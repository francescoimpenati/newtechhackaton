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Early Warning System for Risk-Off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392B"/>
                </a:solidFill>
                <a:latin typeface="Calibri"/>
              </a:rPr>
              <a:t>A Quant Strategy: 1.5x Equity + Macro-Aware Safe-Haven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Bocconi · GSoM Politecnico di Milano · 2025</a:t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Weekly Bloomberg dataset 2000–2021 (n=1107)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4A4A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Calibri"/>
              </a:rPr>
              <a:t>Avoiding the worst weeks is worth more than picking the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Markets crash, and tail events cluster: 2008, 2011, 2020, …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Buy-and-hold pays for every drawdown in full.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Avoiding a handful of weeks compounds into materially higher Sharpe / Calmar.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Our business case: a Quant Strategy — aggressive in calm, defensive in stress.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Framing: nowcasting, not forecasting. Detect stress at birth, not predict it.</a:t>
            </a:r>
          </a:p>
        </p:txBody>
      </p:sp>
      <p:pic>
        <p:nvPicPr>
          <p:cNvPr id="6" name="Picture 5" descr="y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48640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4A4A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Dataset &amp;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Calibri"/>
              </a:rPr>
              <a:t>Bloomberg weekly · 2000–2021 · imbalanced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1107 weekly observations, 43 raw features, binary target Y (1 = risk-off).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Asset classes: equities (MSCI regional), FX, gold, oil, sovereign yields, credit &amp; MBS total-return indices.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Y imbalanced: overall prevalence ~21.3%.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Risk-off clusters: 2000–02, GFC 2008, Euro 2011, COVID 2020.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Years 2013/2017/2019 have zero positives → fundamental CV challenge.</a:t>
            </a:r>
          </a:p>
        </p:txBody>
      </p:sp>
      <p:pic>
        <p:nvPicPr>
          <p:cNvPr id="6" name="Picture 5" descr="y_prevalence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48640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4A4A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Methodology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Calibri"/>
              </a:rPr>
              <a:t>Preprocessing is part of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Raw → stationarity transforms (log-ret / diff / level by family).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Engineered spreads (term, sovereign, credit, cross-asset) + collinearity cleanup.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Purged expanding walk-forward CV (5 folds, 4w embargo) + sealed 2019–2021 test holdout.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Four novelty detectors fit on Y=0 normals → percentile ensemble.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Three macro domain sub-scores → routing engine → 4 allocation regimes.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Backtest vs 5 benchmarks with full risk-adjusted metric suite.</a:t>
            </a:r>
          </a:p>
        </p:txBody>
      </p:sp>
      <p:pic>
        <p:nvPicPr>
          <p:cNvPr id="6" name="Picture 5" descr="routing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48640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4A4A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Calibri"/>
              </a:rPr>
              <a:t>From 43 raw series to 56 stationary, decorrelated predictors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log-returns for prices (equity / FX / gold / oil / bond TR indices).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First differences for yields and short rates.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Level passthrough for already-stationary signals (VIX, ECSURPUS, target).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8 macro spreads (US term, BTP-Bund, US-DE 10Y, HY-IG, EM, …), each as level + Δ4w.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Standalone signals: VRP, gold/oil ratio, equity-bond rotation, JPY strength.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Highlight: equity_bond_corr_13w discriminates liquidity-driven (corr↑) vs inflation-driven crises.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Collinearity cleanup drops |corr|&gt;0.9 twins → 56 features into models.</a:t>
            </a:r>
          </a:p>
        </p:txBody>
      </p:sp>
      <p:pic>
        <p:nvPicPr>
          <p:cNvPr id="6" name="Picture 5" descr="feature_spread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48640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4A4A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Walk-forward CV with embargo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Calibri"/>
              </a:rPr>
              <a:t>The honest backtest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5 expanding folds; train always starts at dataset start.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4-week embargo gap between train end and val start (kills 4w-lookback leakage).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Sealed test holdout 2019-01 → 2021-04 (121 wks, includes COVID).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Per-fold positives: 53, 64, 2, 10, 6 → folds 1–2 dominate.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CV metrics aggregated weighted by n_pos (folds 1–2 carry the signal).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Per-fold StandardScaler (fit on each fold's train only) — no cross-fold leakage.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4A4A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The four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Calibri"/>
              </a:rPr>
              <a:t>Different inductive biases on the same 56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MVG (parametric) + Ledoit-Wolf shrinkage — interpretable Mahalanobis distance.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One-Class SVM (RBF) — flexible kernel boundary; grid nu × gamma.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Autoencoder 56-24-12-6-12-24-56, dropout 0.15 — non-linear reconstruction error.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Isolation Forest (200 trees) — axis-aligned, robust to scale.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All fit on Y=0 normals only; threshold tuned by walk-forward (n_pos-weighted median).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Test AUC-ROC: MVG 0.88 / SVM 0.85 / AE 0.88 / IF 0.81. AE wins AUC-PR (0.78).</a:t>
            </a:r>
          </a:p>
        </p:txBody>
      </p:sp>
      <p:pic>
        <p:nvPicPr>
          <p:cNvPr id="6" name="Picture 5" descr="models_comparis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48640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4A4A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Ensemble + error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Calibri"/>
              </a:rPr>
              <a:t>An honest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Map raw scores → empirical percentiles (vs train normals) for cross-model comparability.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Three modes: hard (≥3/4 vote), soft mean, soft median.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Winner: soft median — test F1 = 0.647 (&gt; best single MVG 0.635).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Mean pairwise error correlation = 0.507.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Honest finding: shared feature space → marginal boost.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To improve, diversify INPUTS (rates-only vs equity-only vs FX-only).</a:t>
            </a:r>
          </a:p>
        </p:txBody>
      </p:sp>
      <p:pic>
        <p:nvPicPr>
          <p:cNvPr id="6" name="Picture 5" descr="ensemble_errors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48640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4A4A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Routing engine — the macro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Calibri"/>
              </a:rPr>
              <a:t>Knowing THAT there's a crisis isn't enough — you need to know WHERE to hide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Three domain sub-scores: USD, Gold, MBS.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USD = funding-stress / haven (LIBOR-OIS, DXY, VRP, 10Y move, US relative).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Gold = real-yield / inflation / fiat distrust (real yields, DXY, JPY, equity-bond corr, gold/oil).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MBS = binary rule for moderate stress; blocked in acute crises (VIX&gt;30, LIBOR&gt;p90, fast HY widening).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USD / Gold = signed-z-score means calibrated on development only.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dxy_chg4w is intentionally shared by USD (+) and Gold (−) with opposite readings.</a:t>
            </a:r>
          </a:p>
        </p:txBody>
      </p:sp>
      <p:pic>
        <p:nvPicPr>
          <p:cNvPr id="6" name="Picture 5" descr="routing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48640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4A4A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Calibri"/>
              </a:rPr>
              <a:t>From signals to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Ensemble = 0 (risk-on)  →  LEVERED_EQUITY (1.5x equity, -0.5x cash).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Ensemble = 1 and sub_usd &gt; th_usd and dxy_chg4w &gt; 0  →  CASH_USD.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Ensemble = 1 and sub_oro &gt; th_oro  →  GOLD.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Ensemble = 1 and MBS rule active  →  MBS.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Else  →  CASH_USD (safe default).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Threshold τ_usd, τ_oro tuned via walk-forward Calmar grid (next slide).</a:t>
            </a:r>
          </a:p>
        </p:txBody>
      </p:sp>
      <p:pic>
        <p:nvPicPr>
          <p:cNvPr id="6" name="Picture 5" descr="subscores_tes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48640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4A4A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Threshold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Calibri"/>
              </a:rPr>
              <a:t>Calmar grid, duration-weighted median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5×5 grid: th_usd ∈ {0.5, 0.75, 1.0, 1.25, 1.5}, th_oro likewise.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Per combo × fold val: route → backtest → Calmar.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Aggregation: duration-weighted median (robust to thin folds).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Selected: th_usd = 1.5, th_oro = 0.5.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Threshold = business decision, not a statistical artifact (recall the prof's framing).</a:t>
            </a:r>
          </a:p>
        </p:txBody>
      </p:sp>
      <p:pic>
        <p:nvPicPr>
          <p:cNvPr id="6" name="Picture 5" descr="threshold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48640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4A4A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Backtest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Calibri"/>
              </a:rPr>
              <a:t>EWS dominates on growth of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Six contenders: EWS · MSCI BH · 60/40 · Butterfly · Permanent · Risk Parity.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EWS ends the test ~1.85× starting capital — the highest of the six.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Clear regime rotation visible at the COVID crash (GOLD wedge).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Recovery post-trough: EWS in ~22 weeks, MSCI in ~35.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Transaction costs: 5/5/8/2/20 bps one-way (equity/bond/gold/cash/mbs).</a:t>
            </a:r>
          </a:p>
        </p:txBody>
      </p:sp>
      <p:pic>
        <p:nvPicPr>
          <p:cNvPr id="6" name="Picture 5" descr="equity_curves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48640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4A4A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Metrics &amp; crisis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Calibri"/>
              </a:rPr>
              <a:t>Sharpe 1.45 · Sortino 2.22 · Calmar 1.39 · CAGR 0.31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EWS wins Sharpe, Sortino, Calmar AND CAGR across all 5 benchmarks.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MaxDD −22% vs MSCI −28% vs 60/40 −20%.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COVID crash DD −21% (vs MSCI −27%); rotation into GOLD during the crash.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Honest nuance: always-defensive blends (Butterfly/Permanent/RiskParity) have smaller absolute DD because they're never fully invested.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EWS is a Quant Strategy (best risk-adjusted return), not a Risk Management overlay.</a:t>
            </a:r>
          </a:p>
        </p:txBody>
      </p:sp>
      <p:pic>
        <p:nvPicPr>
          <p:cNvPr id="6" name="Picture 5" descr="metric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48640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4A4A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Limitations — what we own up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Calibri"/>
              </a:rPr>
              <a:t>Stated before they are asked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Sparse labels post-2013 → folds 3–5 thin (mitigated by n_pos weighting, not eliminated).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Training dominated by liquidity / credit crises → no 2022-style inflation shock in data.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Ensemble error correlation 0.507 → modest boost vs best single model.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MSCI World = equal-weight DM proxy (no true global index in dataset).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Credit spreads = log-ratio of total-return indices, not OAS in bps.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Transaction costs are static estimates; real deployment needs market-impact / slippage modeling.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1-week execution lag is realistic but costs in fast crashes (COVID first week).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4A4A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Future work &amp; Q&amp;A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Calibri"/>
              </a:rPr>
              <a:t>Where this goes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HMM with 2–3 regimes for explicit regime switching.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Ensembles over DISJOINT feature sets (rates / equity / FX) to reduce error correlation.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Daily signals (vs weekly) for earlier warning in fast crises.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Multi-asset extension: REITs, EM bonds, commodity baskets.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Post-2021 stress tests: 2022 inflation shock, geopolitical 2023–24.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Q&amp;A backup: why walk-forward? Ledoit-Wolf? 1.5× leverage? Soft-median over hard vote?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A4A4A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