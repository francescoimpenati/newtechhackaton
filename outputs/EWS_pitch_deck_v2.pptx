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71048" y="704088"/>
            <a:ext cx="640080" cy="365760"/>
          </a:xfrm>
          <a:prstGeom prst="bentConnector3">
            <a:avLst/>
          </a:prstGeom>
          <a:ln w="15240">
            <a:solidFill>
              <a:srgbClr val="22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945368" y="1069848"/>
            <a:ext cx="365760" cy="548640"/>
          </a:xfrm>
          <a:prstGeom prst="bentConnector3">
            <a:avLst/>
          </a:prstGeom>
          <a:ln w="15240">
            <a:solidFill>
              <a:srgbClr val="22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945368" y="1618488"/>
            <a:ext cx="640080" cy="274319"/>
          </a:xfrm>
          <a:prstGeom prst="bentConnector3">
            <a:avLst/>
          </a:prstGeom>
          <a:ln w="15240">
            <a:solidFill>
              <a:srgbClr val="22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10396728" y="1344168"/>
            <a:ext cx="1188720" cy="548639"/>
          </a:xfrm>
          <a:prstGeom prst="bentConnector3">
            <a:avLst/>
          </a:prstGeom>
          <a:ln w="15240">
            <a:solidFill>
              <a:srgbClr val="22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96728" y="1344168"/>
            <a:ext cx="731520" cy="1097280"/>
          </a:xfrm>
          <a:prstGeom prst="bentConnector3">
            <a:avLst/>
          </a:prstGeom>
          <a:ln w="15240">
            <a:solidFill>
              <a:srgbClr val="22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607040" y="640080"/>
            <a:ext cx="109728" cy="1097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0" y="1005840"/>
            <a:ext cx="146304" cy="146304"/>
          </a:xfrm>
          <a:prstGeom prst="ellipse">
            <a:avLst/>
          </a:prstGeom>
          <a:solidFill>
            <a:srgbClr val="5E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1554480"/>
            <a:ext cx="109728" cy="109728"/>
          </a:xfrm>
          <a:prstGeom prst="ellipse">
            <a:avLst/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21440" y="1828800"/>
            <a:ext cx="146304" cy="146304"/>
          </a:xfrm>
          <a:prstGeom prst="ellipse">
            <a:avLst/>
          </a:prstGeom>
          <a:solidFill>
            <a:srgbClr val="5E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1280160"/>
            <a:ext cx="109728" cy="109728"/>
          </a:xfrm>
          <a:prstGeom prst="ellipse">
            <a:avLst/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2377440"/>
            <a:ext cx="146304" cy="146304"/>
          </a:xfrm>
          <a:prstGeom prst="ellipse">
            <a:avLst/>
          </a:prstGeom>
          <a:solidFill>
            <a:srgbClr val="5E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M L   F O R   F I N T E C H     ·     P O L I T E C N I C O   D I   M I L A N O   —   G S O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AF0F8"/>
                </a:solidFill>
                <a:latin typeface="DejaVu Sans"/>
              </a:rPr>
              <a:t>Early Warning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AF0F8"/>
                </a:solidFill>
                <a:latin typeface="DejaVu Sans"/>
              </a:rPr>
              <a:t>for Risk-Off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2B134"/>
                </a:solidFill>
                <a:latin typeface="DejaVu Sans"/>
              </a:rPr>
              <a:t>A Quant Strategy: 1.5× Equity + Macro-Aware Safe-Haven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AF0F8"/>
                </a:solidFill>
                <a:latin typeface="DejaVu Sans"/>
              </a:rPr>
              <a:t>Ercelli  ·  Galli  ·  Impenati  ·  Mazzini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6C2"/>
                </a:solidFill>
                <a:latin typeface="DejaVu Sans"/>
              </a:rPr>
              <a:t>Bloomberg weekly  ·  2000–2021  ·  n ≈ 1,107  ·  2026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224028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T H E   P R O B L E M   &amp;   B U S I N E S S   C A S E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8"/>
                </a:solidFill>
                <a:latin typeface="DejaVu Sans"/>
              </a:rPr>
              <a:t>Avoiding the worst weeks beats picking the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557784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50">
                <a:solidFill>
                  <a:srgbClr val="F2B134"/>
                </a:solidFill>
                <a:latin typeface="DejaVu Sans"/>
              </a:rPr>
              <a:t>●  </a:t>
            </a:r>
            <a:r>
              <a:rPr sz="1550">
                <a:solidFill>
                  <a:srgbClr val="EAF0F8"/>
                </a:solidFill>
                <a:latin typeface="DejaVu Sans"/>
              </a:rPr>
              <a:t>Crashes cluster — buy-and-hold pays for every one in full.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50">
                <a:solidFill>
                  <a:srgbClr val="F2B134"/>
                </a:solidFill>
                <a:latin typeface="DejaVu Sans"/>
              </a:rPr>
              <a:t>●  </a:t>
            </a:r>
            <a:r>
              <a:rPr sz="1550">
                <a:solidFill>
                  <a:srgbClr val="EAF0F8"/>
                </a:solidFill>
                <a:latin typeface="DejaVu Sans"/>
              </a:rPr>
              <a:t>Skipping a handful of weeks compounds into far higher Sharpe &amp; Calmar.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50">
                <a:solidFill>
                  <a:srgbClr val="F2B134"/>
                </a:solidFill>
                <a:latin typeface="DejaVu Sans"/>
              </a:rPr>
              <a:t>●  </a:t>
            </a:r>
            <a:r>
              <a:rPr sz="1550">
                <a:solidFill>
                  <a:srgbClr val="EAF0F8"/>
                </a:solidFill>
                <a:latin typeface="DejaVu Sans"/>
              </a:rPr>
              <a:t>Our answer is a Quant Strategy: aggressive in calm, defensive in stress.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50">
                <a:solidFill>
                  <a:srgbClr val="F2B134"/>
                </a:solidFill>
                <a:latin typeface="DejaVu Sans"/>
              </a:rPr>
              <a:t>●  </a:t>
            </a:r>
            <a:r>
              <a:rPr sz="1550">
                <a:solidFill>
                  <a:srgbClr val="EAF0F8"/>
                </a:solidFill>
                <a:latin typeface="DejaVu Sans"/>
              </a:rPr>
              <a:t>Nowcasting, not forecasting — recognise stress at birth, don't predict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783080"/>
            <a:ext cx="5212080" cy="4069080"/>
          </a:xfrm>
          <a:prstGeom prst="roundRect">
            <a:avLst>
              <a:gd name="adj" fmla="val 4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2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68880"/>
            <a:ext cx="47548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1874519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503B"/>
                </a:solidFill>
                <a:latin typeface="DejaVu Sans"/>
              </a:rPr>
              <a:t>−27%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6428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MSCI buy-&amp;-hold COVID drawdown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D A T A   &amp;   T A R G E T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Weekly Bloomberg, two decades, one binary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1488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2024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B134"/>
                </a:solidFill>
                <a:latin typeface="DejaVu Sans"/>
              </a:rPr>
              <a:t>1,111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67153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6"/>
                </a:solidFill>
                <a:latin typeface="DejaVu Sans"/>
              </a:rPr>
              <a:t>raw weekly obs · 2000–2021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783080"/>
            <a:ext cx="21488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192024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B134"/>
                </a:solidFill>
                <a:latin typeface="DejaVu Sans"/>
              </a:rPr>
              <a:t>43 → 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2367153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6"/>
                </a:solidFill>
                <a:latin typeface="DejaVu Sans"/>
              </a:rPr>
              <a:t>raw → engineered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1783080"/>
            <a:ext cx="21488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192024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2503B"/>
                </a:solidFill>
                <a:latin typeface="DejaVu Sans"/>
              </a:rPr>
              <a:t>21.3%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367153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6"/>
                </a:solidFill>
                <a:latin typeface="DejaVu Sans"/>
              </a:rPr>
              <a:t>risk-off prevalence (Y=1)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154680"/>
            <a:ext cx="6766560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5E84B5"/>
                </a:solidFill>
                <a:latin typeface="DejaVu Sans"/>
              </a:rPr>
              <a:t>●  </a:t>
            </a:r>
            <a:r>
              <a:rPr sz="1450">
                <a:solidFill>
                  <a:srgbClr val="14213D"/>
                </a:solidFill>
                <a:latin typeface="DejaVu Sans"/>
              </a:rPr>
              <a:t>Asset classes: equity · FX · gold · oil · sovereign yields · credit · MBS.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5E84B5"/>
                </a:solidFill>
                <a:latin typeface="DejaVu Sans"/>
              </a:rPr>
              <a:t>●  </a:t>
            </a:r>
            <a:r>
              <a:rPr sz="1450">
                <a:solidFill>
                  <a:srgbClr val="14213D"/>
                </a:solidFill>
                <a:latin typeface="DejaVu Sans"/>
              </a:rPr>
              <a:t>Risk-off clusters: Dot-com 2000–02 · GFC 2008 · Euro 2011 · COVID 2020.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83080"/>
            <a:ext cx="4114800" cy="1143000"/>
          </a:xfrm>
          <a:prstGeom prst="roundRect">
            <a:avLst>
              <a:gd name="adj" fmla="val 10000"/>
            </a:avLst>
          </a:prstGeom>
          <a:solidFill>
            <a:srgbClr val="FDF1E0"/>
          </a:solidFill>
          <a:ln w="1270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901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503B"/>
                </a:solidFill>
                <a:latin typeface="DejaVu Sans"/>
              </a:rPr>
              <a:t>The CV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212848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2013 · 2017 · 2019 carry ZERO positives — folds must be weighted by event 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110642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3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89120"/>
            <a:ext cx="1042416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F E A T U R E   E N G I N E E R I N G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From 43 raw series to 56 stationary, decorrelated predictors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34747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21408"/>
            <a:ext cx="146304" cy="146304"/>
          </a:xfrm>
          <a:prstGeom prst="ellipse">
            <a:avLst/>
          </a:prstGeom>
          <a:solidFill>
            <a:srgbClr val="5E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6654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13D"/>
                </a:solidFill>
                <a:latin typeface="DejaVu Sans"/>
              </a:rPr>
              <a:t>Stationarity by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060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Log-returns for prices · first differences for yields · level passthrough for VIX &amp; surprise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74519"/>
            <a:ext cx="34747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121408"/>
            <a:ext cx="146304" cy="146304"/>
          </a:xfrm>
          <a:prstGeom prst="ellipse">
            <a:avLst/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06654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13D"/>
                </a:solidFill>
                <a:latin typeface="DejaVu Sans"/>
              </a:rPr>
              <a:t>8 macro spreads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060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Term, sovereign and credit (log-ratio) spreads — each as level and 4-week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7" y="1874519"/>
            <a:ext cx="34747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9" y="2121408"/>
            <a:ext cx="146304" cy="146304"/>
          </a:xfrm>
          <a:prstGeom prst="ellipse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206654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13D"/>
                </a:solidFill>
                <a:latin typeface="DejaVu Sans"/>
              </a:rPr>
              <a:t>Collinearity cleanup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060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Drop one of every pair with |corr| &gt; 0.9 → a lean, non-redundant 56-feature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43400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709160"/>
            <a:ext cx="182880" cy="1828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5720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Hero feature — equity_bond_corr_13w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AF0F8"/>
                </a:solidFill>
                <a:latin typeface="DejaVu Sans"/>
              </a:rPr>
              <a:t>The 13-week stock–bond return correlation separates liquidity-driven crises (correlation turns positive, diversification fails) from inflation-driven regimes — a discriminating axis the price and yield features alone miss.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2503B"/>
                </a:solidFill>
                <a:latin typeface="DejaVu Sans"/>
              </a:rPr>
              <a:t>M E T H O D O L O G I C A L   R I G O U 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“You must not fool yourself” — the traps we engineered against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46304" cy="146304"/>
          </a:xfrm>
          <a:prstGeom prst="ellipse">
            <a:avLst/>
          </a:prstGeom>
          <a:solidFill>
            <a:srgbClr val="E2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396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503B"/>
                </a:solidFill>
                <a:latin typeface="DejaVu Sans"/>
              </a:rPr>
              <a:t>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68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Scaler fit on the full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0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86"/>
                </a:solidFill>
                <a:latin typeface="DejaVu Sans"/>
              </a:rPr>
              <a:t>↓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91840"/>
            <a:ext cx="146304" cy="146304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B36B"/>
                </a:solidFill>
                <a:latin typeface="DejaVu Sans"/>
              </a:rPr>
              <a:t>OUR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4930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213D"/>
                </a:solidFill>
                <a:latin typeface="DejaVu Sans"/>
              </a:rPr>
              <a:t>Fit StandardScaler on each fold's TRAIN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92024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212848"/>
            <a:ext cx="146304" cy="146304"/>
          </a:xfrm>
          <a:prstGeom prst="ellipse">
            <a:avLst/>
          </a:prstGeom>
          <a:solidFill>
            <a:srgbClr val="E2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1396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503B"/>
                </a:solidFill>
                <a:latin typeface="DejaVu Sans"/>
              </a:rPr>
              <a:t>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468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Random split on a time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80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86"/>
                </a:solidFill>
                <a:latin typeface="DejaVu Sans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3291840"/>
            <a:ext cx="146304" cy="146304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32186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B36B"/>
                </a:solidFill>
                <a:latin typeface="DejaVu Sans"/>
              </a:rPr>
              <a:t>OUR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4930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213D"/>
                </a:solidFill>
                <a:latin typeface="DejaVu Sans"/>
              </a:rPr>
              <a:t>Purged expanding walk-forward + 4-week embargo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6908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361688"/>
            <a:ext cx="146304" cy="146304"/>
          </a:xfrm>
          <a:prstGeom prst="ellipse">
            <a:avLst/>
          </a:prstGeom>
          <a:solidFill>
            <a:srgbClr val="E2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2885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503B"/>
                </a:solidFill>
                <a:latin typeface="DejaVu Sans"/>
              </a:rPr>
              <a:t>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617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Threshold tuned on the test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029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86"/>
                </a:solidFill>
                <a:latin typeface="DejaVu Sans"/>
              </a:rPr>
              <a:t>↓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440680"/>
            <a:ext cx="146304" cy="146304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367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B36B"/>
                </a:solidFill>
                <a:latin typeface="DejaVu Sans"/>
              </a:rPr>
              <a:t>OUR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641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213D"/>
                </a:solidFill>
                <a:latin typeface="DejaVu Sans"/>
              </a:rPr>
              <a:t>Tuned on CV folds only; 2019–21 sealed holdout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406908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4361688"/>
            <a:ext cx="146304" cy="146304"/>
          </a:xfrm>
          <a:prstGeom prst="ellipse">
            <a:avLst/>
          </a:prstGeom>
          <a:solidFill>
            <a:srgbClr val="E2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2885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2503B"/>
                </a:solidFill>
                <a:latin typeface="DejaVu Sans"/>
              </a:rPr>
              <a:t>TRAP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617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Accuracy on imbalanced labels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5029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86"/>
                </a:solidFill>
                <a:latin typeface="DejaVu Sans"/>
              </a:rPr>
              <a:t>↓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5440680"/>
            <a:ext cx="146304" cy="146304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5367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FB36B"/>
                </a:solidFill>
                <a:latin typeface="DejaVu Sans"/>
              </a:rPr>
              <a:t>OUR 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5641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213D"/>
                </a:solidFill>
                <a:latin typeface="DejaVu Sans"/>
              </a:rPr>
              <a:t>F1 &amp; AUC-PR on the anomaly class, weighted by n_pos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M E T H O D O L O G Y   &amp;   E C O N O M I C   R A T I O N A L E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Lead with why, not just what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2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Stationarity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1229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7533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7533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Spreads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835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8139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2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8139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Walk-forward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441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745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8745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4 detectors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046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89350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2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9350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652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9956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9956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4258" y="1874519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134"/>
                </a:solidFill>
                <a:latin typeface="DejaVu San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0562" y="1828800"/>
            <a:ext cx="1416013" cy="566928"/>
          </a:xfrm>
          <a:prstGeom prst="roundRect">
            <a:avLst>
              <a:gd name="adj" fmla="val 18000"/>
            </a:avLst>
          </a:prstGeom>
          <a:solidFill>
            <a:srgbClr val="2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562" y="1947672"/>
            <a:ext cx="141601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AF0F8"/>
                </a:solidFill>
                <a:latin typeface="DejaVu Sans"/>
              </a:rPr>
              <a:t>Backtest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880360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3163824"/>
            <a:ext cx="155448" cy="15544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2999232"/>
            <a:ext cx="10241280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05000"/>
              </a:lnSpc>
            </a:pPr>
            <a:r>
              <a:rPr b="1" sz="1350">
                <a:solidFill>
                  <a:srgbClr val="14213D"/>
                </a:solidFill>
                <a:latin typeface="DejaVu Sans"/>
              </a:rPr>
              <a:t>Stationarity — </a:t>
            </a:r>
            <a:r>
              <a:rPr sz="1350">
                <a:solidFill>
                  <a:srgbClr val="5B6B86"/>
                </a:solidFill>
                <a:latin typeface="DejaVu Sans"/>
              </a:rPr>
              <a:t>prices follow a random walk; their returns are stationary — ADF-clean inputs.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03320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" y="3986783"/>
            <a:ext cx="155448" cy="15544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3822191"/>
            <a:ext cx="10241280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05000"/>
              </a:lnSpc>
            </a:pPr>
            <a:r>
              <a:rPr b="1" sz="1350">
                <a:solidFill>
                  <a:srgbClr val="14213D"/>
                </a:solidFill>
                <a:latin typeface="DejaVu Sans"/>
              </a:rPr>
              <a:t>Purged walk-forward + 4-week embargo — </a:t>
            </a:r>
            <a:r>
              <a:rPr sz="1350">
                <a:solidFill>
                  <a:srgbClr val="5B6B86"/>
                </a:solidFill>
                <a:latin typeface="DejaVu Sans"/>
              </a:rPr>
              <a:t>the embargo gap kills 4-week-lookback leakage between train and validation.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526280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809744"/>
            <a:ext cx="155448" cy="15544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645152"/>
            <a:ext cx="10241280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05000"/>
              </a:lnSpc>
            </a:pPr>
            <a:r>
              <a:rPr b="1" sz="1350">
                <a:solidFill>
                  <a:srgbClr val="14213D"/>
                </a:solidFill>
                <a:latin typeface="DejaVu Sans"/>
              </a:rPr>
              <a:t>Per-fold StandardScaler on train only — </a:t>
            </a:r>
            <a:r>
              <a:rPr sz="1350">
                <a:solidFill>
                  <a:srgbClr val="5B6B86"/>
                </a:solidFill>
                <a:latin typeface="DejaVu Sans"/>
              </a:rPr>
              <a:t>validation statistics never bleed into training — no cross-fold leakage.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49240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" y="5632704"/>
            <a:ext cx="155448" cy="15544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468112"/>
            <a:ext cx="10241280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05000"/>
              </a:lnSpc>
            </a:pPr>
            <a:r>
              <a:rPr b="1" sz="1350">
                <a:solidFill>
                  <a:srgbClr val="14213D"/>
                </a:solidFill>
                <a:latin typeface="DejaVu Sans"/>
              </a:rPr>
              <a:t>Ledoit-Wolf shrinkage — </a:t>
            </a:r>
            <a:r>
              <a:rPr sz="1350">
                <a:solidFill>
                  <a:srgbClr val="5B6B86"/>
                </a:solidFill>
                <a:latin typeface="DejaVu Sans"/>
              </a:rPr>
              <a:t>56 features vs ~254 normals → the sample covariance is ill-conditioned; shrinkage tames noisy eigenvectors.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T H E   H O N E S T   B A C K T E S T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Five expanding folds, weighted by what's rare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7406640" cy="4572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4767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AF0F8"/>
                </a:solidFill>
                <a:latin typeface="DejaVu Sans"/>
              </a:rPr>
              <a:t>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AF0F8"/>
                </a:solidFill>
                <a:latin typeface="DejaVu Sans"/>
              </a:rPr>
              <a:t>Validation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94767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AF0F8"/>
                </a:solidFill>
                <a:latin typeface="DejaVu Sans"/>
              </a:rPr>
              <a:t>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476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AF0F8"/>
                </a:solidFill>
                <a:latin typeface="DejaVu Sans"/>
              </a:rPr>
              <a:t>Crisis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2007-01 → 2009-12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688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B134"/>
                </a:solidFill>
                <a:latin typeface="DejaVu Sans"/>
              </a:rP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GFC 2008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26080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17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17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2010-02 → 2012-12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17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B134"/>
                </a:solidFill>
                <a:latin typeface="DejaVu Sans"/>
              </a:rPr>
              <a:t>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175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Euro 2011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74720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661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566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2013-01 → 2014-12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5661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503B"/>
                </a:solidFill>
                <a:latin typeface="DejaVu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56616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Taper 2013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23360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114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114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2015-02 → 2016-12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114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503B"/>
                </a:solidFill>
                <a:latin typeface="DejaVu San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114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China–Oil 2015-16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572000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6634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663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86"/>
                </a:solidFill>
                <a:latin typeface="DejaVu Sans"/>
              </a:rPr>
              <a:t>2017-01 → 2018-12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634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503B"/>
                </a:solidFill>
                <a:latin typeface="DejaVu San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6634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213D"/>
                </a:solidFill>
                <a:latin typeface="DejaVu Sans"/>
              </a:rPr>
              <a:t>Q4-2018 selloff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377440"/>
            <a:ext cx="347472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>
                <a:solidFill>
                  <a:srgbClr val="5E84B5"/>
                </a:solidFill>
                <a:latin typeface="DejaVu Sans"/>
              </a:rPr>
              <a:t>●  </a:t>
            </a:r>
            <a:r>
              <a:rPr sz="1350">
                <a:solidFill>
                  <a:srgbClr val="14213D"/>
                </a:solidFill>
                <a:latin typeface="DejaVu Sans"/>
              </a:rPr>
              <a:t>Folds 1–2 hold 117 of 135 positives — they carry the signal.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>
                <a:solidFill>
                  <a:srgbClr val="5E84B5"/>
                </a:solidFill>
                <a:latin typeface="DejaVu Sans"/>
              </a:rPr>
              <a:t>●  </a:t>
            </a:r>
            <a:r>
              <a:rPr sz="1350">
                <a:solidFill>
                  <a:srgbClr val="14213D"/>
                </a:solidFill>
                <a:latin typeface="DejaVu Sans"/>
              </a:rPr>
              <a:t>CV metrics aggregated weighted by n_pos; thin folds 3–5 down-weighted.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>
                <a:solidFill>
                  <a:srgbClr val="5E84B5"/>
                </a:solidFill>
                <a:latin typeface="DejaVu Sans"/>
              </a:rPr>
              <a:t>●  </a:t>
            </a:r>
            <a:r>
              <a:rPr sz="1350">
                <a:solidFill>
                  <a:srgbClr val="14213D"/>
                </a:solidFill>
                <a:latin typeface="DejaVu Sans"/>
              </a:rPr>
              <a:t>Sealed 2019–2021 test holdout: 121 weeks, includes COVID.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069080"/>
            <a:ext cx="3429000" cy="201168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3434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2B134"/>
                </a:solidFill>
                <a:latin typeface="DejaVu Sans"/>
              </a:rPr>
              <a:t>87%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018913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6C2"/>
                </a:solidFill>
                <a:latin typeface="DejaVu Sans"/>
              </a:rPr>
              <a:t>of all positives sit in folds 1–2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9496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AF0F8"/>
                </a:solidFill>
                <a:latin typeface="DejaVu Sans"/>
              </a:rPr>
              <a:t>117 of 135 risk-off weeks — why we weight folds by n_pos.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B134"/>
                </a:solidFill>
                <a:latin typeface="DejaVu Sans"/>
              </a:rPr>
              <a:t>M A C R O   I N T U I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8"/>
                </a:solidFill>
                <a:latin typeface="DejaVu Sans"/>
              </a:rPr>
              <a:t>Knowing THAT there's a crisis isn't enough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B134"/>
                </a:solidFill>
                <a:latin typeface="DejaVu Sans"/>
              </a:rPr>
              <a:t>you need to know WHERE to hide.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A6C2"/>
                </a:solidFill>
                <a:latin typeface="DejaVu Sans"/>
              </a:rPr>
              <a:t>The right haven depends on the nature of the shock. We score three of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64" y="4160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E8FD0"/>
                </a:solidFill>
                <a:latin typeface="DejaVu Sans"/>
              </a:rPr>
              <a:t>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Funding stress / dollar squeeze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LIBOR-OIS, DXY, VRP, 10Y move, US-vs-world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31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4224528"/>
            <a:ext cx="201168" cy="20116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4160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B134"/>
                </a:solidFill>
                <a:latin typeface="DejaVu Sans"/>
              </a:rP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Real-yield · inflation · fiat distrust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2578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real yields, DXY, JPY, stock-bond corr, gold/oil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4224528"/>
            <a:ext cx="201168" cy="201168"/>
          </a:xfrm>
          <a:prstGeom prst="ellipse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4160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93A6"/>
                </a:solidFill>
                <a:latin typeface="DejaVu Sans"/>
              </a:rPr>
              <a:t>MBS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Moderate-stress carry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2578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active in mild stress, blocked in acute crises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T H E   E W S   T R I G G E R   M A P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14 signals → 3 domains → router → 4 regimes</a:t>
            </a:r>
          </a:p>
        </p:txBody>
      </p:sp>
      <p:pic>
        <p:nvPicPr>
          <p:cNvPr id="6" name="Picture 5" descr="s9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11338560" cy="4681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72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B86"/>
                </a:solidFill>
                <a:latin typeface="DejaVu Sans"/>
              </a:rPr>
              <a:t>dxy_chg4w is shared by USD (+) and Gold (−) — one variable, opposite economic readings.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D E C I S I O N   M A T R I X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From signals to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77724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3D"/>
                </a:solidFill>
                <a:latin typeface="DejaVu Sans"/>
              </a:rPr>
              <a:t>Ensemble = risk-on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84831"/>
            <a:ext cx="1828800" cy="438912"/>
          </a:xfrm>
          <a:prstGeom prst="roundRect">
            <a:avLst>
              <a:gd name="adj" fmla="val 20000"/>
            </a:avLst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1220"/>
                </a:solidFill>
                <a:latin typeface="DejaVu Sans"/>
              </a:rPr>
              <a:t>LEVERED_EQUITY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2344"/>
            <a:ext cx="77724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3D"/>
                </a:solidFill>
                <a:latin typeface="DejaVu Sans"/>
              </a:rPr>
              <a:t>risk-off  ·  USD sub-score &gt; 1.5  ·  dxy_chg4w &gt;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71215"/>
            <a:ext cx="1828800" cy="438912"/>
          </a:xfrm>
          <a:prstGeom prst="roundRect">
            <a:avLst>
              <a:gd name="adj" fmla="val 20000"/>
            </a:avLst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3522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8"/>
                </a:solidFill>
                <a:latin typeface="DejaVu Sans"/>
              </a:rPr>
              <a:t>CASH_USD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38727"/>
            <a:ext cx="77724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21607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3D"/>
                </a:solidFill>
                <a:latin typeface="DejaVu Sans"/>
              </a:rPr>
              <a:t>risk-off  ·  Gold sub-score &gt; 0.5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599"/>
            <a:ext cx="1828800" cy="438912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721607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1220"/>
                </a:solidFill>
                <a:latin typeface="DejaVu Sans"/>
              </a:rPr>
              <a:t>GOLD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25112"/>
            <a:ext cx="77724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2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3D"/>
                </a:solidFill>
                <a:latin typeface="DejaVu Sans"/>
              </a:rPr>
              <a:t>risk-off  ·  MBS rule 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43983"/>
            <a:ext cx="1828800" cy="438912"/>
          </a:xfrm>
          <a:prstGeom prst="roundRect">
            <a:avLst>
              <a:gd name="adj" fmla="val 20000"/>
            </a:avLst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50799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1220"/>
                </a:solidFill>
                <a:latin typeface="DejaVu Sans"/>
              </a:rPr>
              <a:t>MBS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11496"/>
            <a:ext cx="777240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94376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3D"/>
                </a:solidFill>
                <a:latin typeface="DejaVu Sans"/>
              </a:rPr>
              <a:t>otherwise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230368"/>
            <a:ext cx="1828800" cy="438912"/>
          </a:xfrm>
          <a:prstGeom prst="roundRect">
            <a:avLst>
              <a:gd name="adj" fmla="val 20000"/>
            </a:avLst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2943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8"/>
                </a:solidFill>
                <a:latin typeface="DejaVu Sans"/>
              </a:rPr>
              <a:t>CASH_USD  (safe default)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19659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134"/>
                </a:solidFill>
                <a:latin typeface="DejaVu Sans"/>
              </a:rPr>
              <a:t>Thresholds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69748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AF0F8"/>
                </a:solidFill>
                <a:latin typeface="DejaVu Sans"/>
              </a:rPr>
              <a:t>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2872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6C2"/>
                </a:solidFill>
                <a:latin typeface="DejaVu Sans"/>
              </a:rPr>
              <a:t>τ  USD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7947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AF0F8"/>
                </a:solidFill>
                <a:latin typeface="DejaVu Sans"/>
              </a:rPr>
              <a:t>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3845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6C2"/>
                </a:solidFill>
                <a:latin typeface="DejaVu Sans"/>
              </a:rPr>
              <a:t>τ  Gold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8920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93A6C2"/>
                </a:solidFill>
                <a:latin typeface="DejaVu Sans"/>
              </a:rPr>
              <a:t>Tuned via walk-forward Calmar grid (duration-weighted median).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T H E   F O U R   D E T E C T O R S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Four inductive biases, one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486400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95144"/>
            <a:ext cx="164592" cy="164592"/>
          </a:xfrm>
          <a:prstGeom prst="ellipse">
            <a:avLst/>
          </a:prstGeom>
          <a:solidFill>
            <a:srgbClr val="5E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122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MVG · Ledoit-Wolf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414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6"/>
                </a:solidFill>
                <a:latin typeface="DejaVu Sans"/>
              </a:rPr>
              <a:t>parametric — interpretable Mahalanobis 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5486400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255264"/>
            <a:ext cx="164592" cy="164592"/>
          </a:xfrm>
          <a:prstGeom prst="ellipse">
            <a:avLst/>
          </a:prstGeom>
          <a:solidFill>
            <a:srgbClr val="4E8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072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One-Class SVM (RBF)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015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6"/>
                </a:solidFill>
                <a:latin typeface="DejaVu Sans"/>
              </a:rPr>
              <a:t>flexible non-linear boundary; grid ν × 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6200"/>
            <a:ext cx="5486400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215384"/>
            <a:ext cx="164592" cy="164592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0325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Autoencoder 56-…-6-…-56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6"/>
                </a:solidFill>
                <a:latin typeface="DejaVu Sans"/>
              </a:rPr>
              <a:t>non-linear reconstruction error; dropout 0.15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46320"/>
            <a:ext cx="5486400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5175504"/>
            <a:ext cx="164592" cy="164592"/>
          </a:xfrm>
          <a:prstGeom prst="ellipse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9926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DejaVu Sans"/>
              </a:rPr>
              <a:t>Isolation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3218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6"/>
                </a:solidFill>
                <a:latin typeface="DejaVu Sans"/>
              </a:rPr>
              <a:t>200 trees; robust, scale-invariant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86"/>
                </a:solidFill>
                <a:latin typeface="DejaVu Sans"/>
              </a:rPr>
              <a:t>All fit on Y = 0 normals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874519"/>
            <a:ext cx="5303520" cy="3246120"/>
          </a:xfrm>
          <a:prstGeom prst="roundRect">
            <a:avLst>
              <a:gd name="adj" fmla="val 4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11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4937760" cy="29718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55080" y="5303520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 w="1270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4406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4213D"/>
                </a:solidFill>
                <a:latin typeface="DejaVu Sans"/>
              </a:rPr>
              <a:t>AE wins AUC-PR (0.78); MVG best F1 — diversity that the ensemble exploits.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E N S E M B L E   &amp;   E R R O R   C O R R E L A T I O N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A real, but honest, 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20240"/>
            <a:ext cx="5669280" cy="3840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2B134"/>
                </a:solidFill>
                <a:latin typeface="DejaVu Sans"/>
              </a:rPr>
              <a:t>●  </a:t>
            </a:r>
            <a:r>
              <a:rPr sz="1400">
                <a:solidFill>
                  <a:srgbClr val="14213D"/>
                </a:solidFill>
                <a:latin typeface="DejaVu Sans"/>
              </a:rPr>
              <a:t>Raw scores → empirical percentiles vs train normals (comparable scale).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2B134"/>
                </a:solidFill>
                <a:latin typeface="DejaVu Sans"/>
              </a:rPr>
              <a:t>●  </a:t>
            </a:r>
            <a:r>
              <a:rPr sz="1400">
                <a:solidFill>
                  <a:srgbClr val="14213D"/>
                </a:solidFill>
                <a:latin typeface="DejaVu Sans"/>
              </a:rPr>
              <a:t>Three modes: hard vote (≥3/4), soft mean, soft median.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2B134"/>
                </a:solidFill>
                <a:latin typeface="DejaVu Sans"/>
              </a:rPr>
              <a:t>●  </a:t>
            </a:r>
            <a:r>
              <a:rPr sz="1400">
                <a:solidFill>
                  <a:srgbClr val="14213D"/>
                </a:solidFill>
                <a:latin typeface="DejaVu Sans"/>
              </a:rPr>
              <a:t>Winner — soft median: test F1 = 0.647, beating the best single model (MVG, 0.635).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2B134"/>
                </a:solidFill>
                <a:latin typeface="DejaVu Sans"/>
              </a:rPr>
              <a:t>●  </a:t>
            </a:r>
            <a:r>
              <a:rPr sz="1400">
                <a:solidFill>
                  <a:srgbClr val="14213D"/>
                </a:solidFill>
                <a:latin typeface="DejaVu Sans"/>
              </a:rPr>
              <a:t>Errors are correlated but far from identical → a genuine yet modest gain.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2B134"/>
                </a:solidFill>
                <a:latin typeface="DejaVu Sans"/>
              </a:rPr>
              <a:t>●  </a:t>
            </a:r>
            <a:r>
              <a:rPr sz="1400">
                <a:solidFill>
                  <a:srgbClr val="14213D"/>
                </a:solidFill>
                <a:latin typeface="DejaVu Sans"/>
              </a:rPr>
              <a:t>To push further: diversify INPUTS — rates-only / equity-only / FX-only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5212080" cy="2971800"/>
          </a:xfrm>
          <a:prstGeom prst="roundRect">
            <a:avLst>
              <a:gd name="adj" fmla="val 4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2_err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57400"/>
            <a:ext cx="3749039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502920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513892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B134"/>
                </a:solidFill>
                <a:latin typeface="DejaVu Sans"/>
              </a:rPr>
              <a:t>0.507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6429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mean pairwise error correlation (folds 1–2)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R E S U L T S   —   B A C K T E S T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Growth of $1 on the sealed test holdout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7955279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3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7543800" cy="40416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828800"/>
            <a:ext cx="2926080" cy="12984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2029968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B134"/>
                </a:solidFill>
                <a:latin typeface="DejaVu Sans"/>
              </a:rPr>
              <a:t>1.87×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53403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EWS final — highest of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310128"/>
            <a:ext cx="2926080" cy="12984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511296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FB36B"/>
                </a:solidFill>
                <a:latin typeface="DejaVu Sans"/>
              </a:rPr>
              <a:t>22 wks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01535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COVID recovery (MSCI: 35)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791456"/>
            <a:ext cx="2926080" cy="12984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992624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B134"/>
                </a:solidFill>
                <a:latin typeface="DejaVu Sans"/>
              </a:rP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5496687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haven during the crash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84B5"/>
                </a:solidFill>
                <a:latin typeface="DejaVu Sans"/>
              </a:rPr>
              <a:t>M E T R I C S   &amp;   T H E   D R A W D O W N   N U A N C E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13D"/>
                </a:solidFill>
                <a:latin typeface="DejaVu Sans"/>
              </a:rPr>
              <a:t>Best risk-adjusted return of all six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116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B134"/>
                </a:solidFill>
                <a:latin typeface="DejaVu Sans"/>
              </a:rPr>
              <a:t>1.45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5861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6C2"/>
                </a:solidFill>
                <a:latin typeface="DejaVu Sans"/>
              </a:rPr>
              <a:t>Sharpe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0116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B134"/>
                </a:solidFill>
                <a:latin typeface="DejaVu Sans"/>
              </a:rPr>
              <a:t>2.22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65861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6C2"/>
                </a:solidFill>
                <a:latin typeface="DejaVu Sans"/>
              </a:rPr>
              <a:t>Sortino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B134"/>
                </a:solidFill>
                <a:latin typeface="DejaVu Sans"/>
              </a:rPr>
              <a:t>1.39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5861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6C2"/>
                </a:solidFill>
                <a:latin typeface="DejaVu Sans"/>
              </a:rPr>
              <a:t>Calmar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7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7" y="20116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B134"/>
                </a:solidFill>
                <a:latin typeface="DejaVu Sans"/>
              </a:rPr>
              <a:t>0.31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265861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6C2"/>
                </a:solidFill>
                <a:latin typeface="DejaVu Sans"/>
              </a:rPr>
              <a:t>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375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FB36B"/>
                </a:solidFill>
                <a:latin typeface="DejaVu Sans"/>
              </a:rPr>
              <a:t>EWS wins all four versus every benchmark.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9476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14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39"/>
            <a:ext cx="5074920" cy="19202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5080" y="3794760"/>
            <a:ext cx="5303520" cy="2331720"/>
          </a:xfrm>
          <a:prstGeom prst="roundRect">
            <a:avLst>
              <a:gd name="adj" fmla="val 5000"/>
            </a:avLst>
          </a:prstGeom>
          <a:solidFill>
            <a:srgbClr val="FDF1E0"/>
          </a:solidFill>
          <a:ln w="1270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776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2503B"/>
                </a:solidFill>
                <a:latin typeface="DejaVu Sans"/>
              </a:rPr>
              <a:t>The honest nuance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892040" cy="1737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14213D"/>
                </a:solidFill>
                <a:latin typeface="DejaVu Sans"/>
              </a:rPr>
              <a:t>EWS max DD −22% vs MSCI −28%; COVID crash −21% vs −27%.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14213D"/>
                </a:solidFill>
                <a:latin typeface="DejaVu Sans"/>
              </a:rPr>
              <a:t>Always-defensive blends (Butterfly / Permanent / Risk Parity) show smaller ABSOLUTE drawdowns — they are never fully invested.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14213D"/>
                </a:solidFill>
                <a:latin typeface="DejaVu Sans"/>
              </a:rPr>
              <a:t>EWS is a Quant Strategy (best risk-adjusted return), not a risk-management overlay.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B134"/>
                </a:solidFill>
                <a:latin typeface="DejaVu Sans"/>
              </a:rPr>
              <a:t>L I M I T A T I O N S   &amp;   E X T E N S I O N S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877824"/>
            <a:ext cx="118872" cy="118872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8"/>
                </a:solidFill>
                <a:latin typeface="DejaVu Sans"/>
              </a:rPr>
              <a:t>What we'd test next — tied to what's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2503B"/>
                </a:solidFill>
                <a:latin typeface="DejaVu San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EAF0F8"/>
                </a:solidFill>
                <a:latin typeface="DejaVu Sans"/>
              </a:rPr>
              <a:t>Sparse labels post-2013 (thin folds).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EAF0F8"/>
                </a:solidFill>
                <a:latin typeface="DejaVu Sans"/>
              </a:rPr>
              <a:t>Training is liquidity/credit-driven — no 2022 inflation shock.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EAF0F8"/>
                </a:solidFill>
                <a:latin typeface="DejaVu Sans"/>
              </a:rPr>
              <a:t>MSCI World = equal-weight DM proxy.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EAF0F8"/>
                </a:solidFill>
                <a:latin typeface="DejaVu Sans"/>
              </a:rPr>
              <a:t>Credit = log-ratio of TR indices, not OAS.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>
                <a:solidFill>
                  <a:srgbClr val="E2503B"/>
                </a:solidFill>
                <a:latin typeface="DejaVu Sans"/>
              </a:rPr>
              <a:t>●  </a:t>
            </a:r>
            <a:r>
              <a:rPr sz="1250">
                <a:solidFill>
                  <a:srgbClr val="EAF0F8"/>
                </a:solidFill>
                <a:latin typeface="DejaVu Sans"/>
              </a:rPr>
              <a:t>Static t-costs; 1-week execution 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B36B"/>
                </a:solidFill>
                <a:latin typeface="DejaVu Sans"/>
              </a:rPr>
              <a:t>Roadmap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331720"/>
            <a:ext cx="137160" cy="137160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2585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Signal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53288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ensembles over DISJOINT feature sets to break the 0.507 error correlation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3081527"/>
            <a:ext cx="137160" cy="137160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300837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Regime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282696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HMM with 2–3 states for explicit switching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3831335"/>
            <a:ext cx="137160" cy="137160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3758183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4032504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daily signals — the 1-week lag cost us the first COVID week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4581144"/>
            <a:ext cx="137160" cy="137160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450799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Asset universe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478231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REITs, EM bonds, commodity baskets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5330952"/>
            <a:ext cx="137160" cy="137160"/>
          </a:xfrm>
          <a:prstGeom prst="ellipse">
            <a:avLst/>
          </a:prstGeom>
          <a:solidFill>
            <a:srgbClr val="3F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52578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0F8"/>
                </a:solidFill>
                <a:latin typeface="DejaVu Sans"/>
              </a:rPr>
              <a:t>OOS 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55321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3A6C2"/>
                </a:solidFill>
                <a:latin typeface="DejaVu Sans"/>
              </a:rPr>
              <a:t>2022 inflation, 2023-24 geopolitical, 2025 tariff regime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86"/>
                </a:solidFill>
                <a:latin typeface="DejaVu San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